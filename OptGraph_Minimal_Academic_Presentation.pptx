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57" r:id="rId4"/>
    <p:sldId id="264" r:id="rId5"/>
    <p:sldId id="265" r:id="rId6"/>
    <p:sldId id="260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D"/>
    <a:srgbClr val="E8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27F7-019C-EF09-54C2-66DA70396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1928" y="184991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8000" b="1" dirty="0" err="1">
                <a:solidFill>
                  <a:srgbClr val="22272D"/>
                </a:solidFill>
                <a:latin typeface="Aptos"/>
                <a:ea typeface="+mn-ea"/>
                <a:cs typeface="+mn-cs"/>
              </a:rPr>
              <a:t>OptGraph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EE11D-9C8C-DD7E-F5A5-43613BE64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3838" y="3102354"/>
            <a:ext cx="6400800" cy="17526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22272D"/>
                </a:solidFill>
                <a:latin typeface="Aptos"/>
              </a:rPr>
              <a:t>A platform that measures how LLVM optimization passes interact on each program, builds per-program interaction graphs, and predicts them for unseen programs with ML.</a:t>
            </a:r>
            <a:br>
              <a:rPr lang="en-US" sz="2000" b="1" dirty="0">
                <a:solidFill>
                  <a:srgbClr val="22272D"/>
                </a:solidFill>
                <a:latin typeface="Aptos"/>
              </a:rPr>
            </a:br>
            <a:endParaRPr lang="en-US" sz="2000" b="1" dirty="0">
              <a:solidFill>
                <a:srgbClr val="22272D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2CBEC-4379-7323-C34C-7B93DBF3A9AD}"/>
              </a:ext>
            </a:extLst>
          </p:cNvPr>
          <p:cNvSpPr txBox="1"/>
          <p:nvPr/>
        </p:nvSpPr>
        <p:spPr>
          <a:xfrm>
            <a:off x="343909" y="5544369"/>
            <a:ext cx="609460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rgbClr val="22272D"/>
                </a:solidFill>
                <a:latin typeface="Aptos"/>
                <a:ea typeface="+mn-ea"/>
                <a:cs typeface="+mn-cs"/>
              </a:rPr>
              <a:t>Team Members</a:t>
            </a:r>
          </a:p>
          <a:p>
            <a:r>
              <a:rPr lang="en-US" sz="1600" b="1" dirty="0">
                <a:solidFill>
                  <a:srgbClr val="22272D"/>
                </a:solidFill>
                <a:latin typeface="Aptos"/>
              </a:rPr>
              <a:t>Arav Singh Patel 24BCE2425</a:t>
            </a:r>
          </a:p>
          <a:p>
            <a:r>
              <a:rPr lang="en-US" sz="1600" b="1" dirty="0">
                <a:solidFill>
                  <a:srgbClr val="22272D"/>
                </a:solidFill>
                <a:latin typeface="Aptos"/>
              </a:rPr>
              <a:t>Chaitanya </a:t>
            </a:r>
            <a:r>
              <a:rPr lang="en-US" sz="1600" b="1" dirty="0" err="1">
                <a:solidFill>
                  <a:srgbClr val="22272D"/>
                </a:solidFill>
                <a:latin typeface="Aptos"/>
              </a:rPr>
              <a:t>Ghogare</a:t>
            </a:r>
            <a:r>
              <a:rPr lang="en-US" sz="1600" b="1" dirty="0">
                <a:solidFill>
                  <a:srgbClr val="22272D"/>
                </a:solidFill>
                <a:latin typeface="Aptos"/>
              </a:rPr>
              <a:t> 24BCE2392</a:t>
            </a:r>
          </a:p>
          <a:p>
            <a:endParaRPr lang="en-US" sz="2700" b="1" dirty="0">
              <a:solidFill>
                <a:srgbClr val="22272D"/>
              </a:solidFill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85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65882"/>
                </a:solidFill>
                <a:latin typeface="Aptos"/>
              </a:defRPr>
            </a:pPr>
            <a:r>
              <a:t>01 | WHY THIS PROBLEM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2272D"/>
                </a:solidFill>
                <a:latin typeface="Aptos"/>
              </a:defRPr>
            </a:pPr>
            <a:r>
              <a:rPr dirty="0"/>
              <a:t>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8346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F666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2272D"/>
                </a:solidFill>
                <a:latin typeface="Aptos"/>
              </a:defRPr>
            </a:pPr>
            <a:r>
              <a:rPr dirty="0"/>
              <a:t>The effect of an optimization pass depends on the IR it receives.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1325880" cy="50292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128930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Program 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404872"/>
            <a:ext cx="50292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148840"/>
            <a:ext cx="1051560" cy="50292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157984"/>
            <a:ext cx="101498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Pass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404872"/>
            <a:ext cx="502921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2148840"/>
            <a:ext cx="1051560" cy="50292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57984"/>
            <a:ext cx="101498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Pass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404872"/>
            <a:ext cx="50292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2148840"/>
            <a:ext cx="1325880" cy="502920"/>
          </a:xfrm>
          <a:prstGeom prst="roundRect">
            <a:avLst/>
          </a:prstGeom>
          <a:solidFill>
            <a:srgbClr val="E8F1EB"/>
          </a:solidFill>
          <a:ln w="11430">
            <a:solidFill>
              <a:srgbClr val="437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7" y="2157984"/>
            <a:ext cx="128930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437457"/>
                </a:solidFill>
                <a:latin typeface="Aptos"/>
              </a:defRPr>
            </a:pPr>
            <a:r>
              <a:t>Result R₁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46120"/>
            <a:ext cx="1325880" cy="50292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255263"/>
            <a:ext cx="128930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Program 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502152"/>
            <a:ext cx="50292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3246120"/>
            <a:ext cx="1051560" cy="502920"/>
          </a:xfrm>
          <a:prstGeom prst="roundRect">
            <a:avLst/>
          </a:prstGeom>
          <a:solidFill>
            <a:srgbClr val="EFEAF4"/>
          </a:solidFill>
          <a:ln w="11430">
            <a:solidFill>
              <a:srgbClr val="69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98648" y="3255263"/>
            <a:ext cx="101498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695082"/>
                </a:solidFill>
                <a:latin typeface="Aptos"/>
              </a:defRPr>
            </a:pPr>
            <a:r>
              <a:t>Pass 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77639" y="3502152"/>
            <a:ext cx="502921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0" y="3246120"/>
            <a:ext cx="1051560" cy="502920"/>
          </a:xfrm>
          <a:prstGeom prst="roundRect">
            <a:avLst/>
          </a:prstGeom>
          <a:solidFill>
            <a:srgbClr val="EFEAF4"/>
          </a:solidFill>
          <a:ln w="11430">
            <a:solidFill>
              <a:srgbClr val="69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255263"/>
            <a:ext cx="101498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695082"/>
                </a:solidFill>
                <a:latin typeface="Aptos"/>
              </a:defRPr>
            </a:pPr>
            <a:r>
              <a:t>Pass 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0" y="3502152"/>
            <a:ext cx="50292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63640" y="3246120"/>
            <a:ext cx="1325880" cy="502920"/>
          </a:xfrm>
          <a:prstGeom prst="roundRect">
            <a:avLst/>
          </a:prstGeom>
          <a:solidFill>
            <a:srgbClr val="F6EAEA"/>
          </a:solidFill>
          <a:ln w="11430">
            <a:solidFill>
              <a:srgbClr val="9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7" y="3255263"/>
            <a:ext cx="128930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9C4848"/>
                </a:solidFill>
                <a:latin typeface="Aptos"/>
              </a:defRPr>
            </a:pPr>
            <a:r>
              <a:t>Result R₂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1762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65882"/>
                </a:solidFill>
                <a:latin typeface="Aptos"/>
              </a:defRPr>
            </a:pPr>
            <a:r>
              <a:t>A→B  ≠  B→A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246120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66E"/>
                </a:solidFill>
                <a:latin typeface="Aptos"/>
              </a:defRPr>
            </a:pPr>
            <a:r>
              <a:t>Phase Ordering Problem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34840"/>
            <a:ext cx="5257800" cy="109728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553712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65882"/>
                </a:solidFill>
                <a:latin typeface="Aptos"/>
              </a:defRPr>
            </a:pPr>
            <a:r>
              <a:t>Why it gets harder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919472"/>
            <a:ext cx="4928616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5F666E"/>
                </a:solidFill>
                <a:latin typeface="Aptos"/>
              </a:defRPr>
            </a:pPr>
            <a:r>
              <a:t>The same pair of passes can also behave differently across programs because loops, control flow, memory operations and data dependencies differ.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434840"/>
            <a:ext cx="5257800" cy="109728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4553712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65882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919472"/>
            <a:ext cx="4928616" cy="4708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5F666E"/>
                </a:solidFill>
                <a:latin typeface="Aptos"/>
              </a:defRPr>
            </a:pPr>
            <a:r>
              <a:rPr dirty="0"/>
              <a:t>Can the strength and direction of a pass interaction be explained by program structure</a:t>
            </a:r>
            <a:r>
              <a:rPr lang="en-US" dirty="0"/>
              <a:t>,</a:t>
            </a:r>
            <a:r>
              <a:rPr dirty="0"/>
              <a:t> and predicted for unseen programs?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5F666E"/>
                </a:solidFill>
                <a:latin typeface="Aptos"/>
              </a:defRPr>
            </a:pPr>
            <a:r>
              <a:t>OptGraph  |  Compiler Design Research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73952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5F666E"/>
                </a:solidFill>
                <a:latin typeface="Aptos"/>
              </a:defRPr>
            </a:pPr>
            <a:r>
              <a:t>VIT Vellore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65882"/>
                </a:solidFill>
                <a:latin typeface="Aptos"/>
              </a:defRPr>
            </a:pPr>
            <a:r>
              <a:t>02 | FROM OBSERVATION TO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2272D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8346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F66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5882"/>
                </a:solidFill>
                <a:latin typeface="Aptos"/>
              </a:defRPr>
            </a:pPr>
            <a:r>
              <a:t>Measure  →  explain  →  predict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246120" cy="2148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67712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65882"/>
                </a:solidFill>
                <a:latin typeface="Aptos"/>
              </a:defRPr>
            </a:pPr>
            <a:r>
              <a:t>01  QUANTIFY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2916936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66E"/>
                </a:solidFill>
                <a:latin typeface="Aptos"/>
              </a:defRPr>
            </a:pPr>
            <a:r>
              <a:t>Measure how Pass A changes the benefit of Pass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65882"/>
                </a:solidFill>
                <a:latin typeface="Aptos"/>
              </a:defRPr>
            </a:pPr>
            <a:r>
              <a:t>I(A,B,P) = Δ(B|A,P) − Δ(B|P)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246120" cy="2148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267712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37457"/>
                </a:solidFill>
                <a:latin typeface="Aptos"/>
              </a:defRPr>
            </a:pPr>
            <a:r>
              <a:t>02  REPRESENT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633472"/>
            <a:ext cx="2916936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66E"/>
                </a:solidFill>
                <a:latin typeface="Aptos"/>
              </a:defRPr>
            </a:pPr>
            <a:r>
              <a:t>Encode synergy / antagonism as weighted graph relationships.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57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437457"/>
                </a:solidFill>
                <a:latin typeface="Aptos"/>
              </a:defRPr>
            </a:pPr>
            <a:r>
              <a:t>Passes → weighted edges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148840"/>
            <a:ext cx="3246120" cy="2148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2267712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5082"/>
                </a:solidFill>
                <a:latin typeface="Aptos"/>
              </a:defRPr>
            </a:pPr>
            <a:r>
              <a:t>03 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2633472"/>
            <a:ext cx="2916936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66E"/>
                </a:solidFill>
                <a:latin typeface="Aptos"/>
              </a:defRPr>
            </a:pPr>
            <a:r>
              <a:t>Use static LLVM IR features to predict interactions on unseen programs.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3657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695082"/>
                </a:solidFill>
                <a:latin typeface="Aptos"/>
              </a:defRPr>
            </a:pPr>
            <a:r>
              <a:t>Features + A + B →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97605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65882"/>
                </a:solidFill>
                <a:latin typeface="Aptos"/>
              </a:defRPr>
            </a:pPr>
            <a:r>
              <a:rPr dirty="0"/>
              <a:t>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828032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22272D"/>
                </a:solidFill>
                <a:latin typeface="Aptos"/>
              </a:defRPr>
            </a:pPr>
            <a:r>
              <a:t>• How frequently do standard LLVM passes show measurable synergy or antagonism?</a:t>
            </a:r>
          </a:p>
          <a:p>
            <a:pPr>
              <a:spcAft>
                <a:spcPts val="500"/>
              </a:spcAft>
              <a:defRPr sz="1170">
                <a:solidFill>
                  <a:srgbClr val="22272D"/>
                </a:solidFill>
                <a:latin typeface="Aptos"/>
              </a:defRPr>
            </a:pPr>
            <a:r>
              <a:t>• Which structural features best predict interaction strength?</a:t>
            </a:r>
          </a:p>
          <a:p>
            <a:pPr>
              <a:spcAft>
                <a:spcPts val="500"/>
              </a:spcAft>
              <a:defRPr sz="1170">
                <a:solidFill>
                  <a:srgbClr val="22272D"/>
                </a:solidFill>
                <a:latin typeface="Aptos"/>
              </a:defRPr>
            </a:pPr>
            <a:r>
              <a:t>• Can the model generalize to a completely unseen program?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5F666E"/>
                </a:solidFill>
                <a:latin typeface="Aptos"/>
              </a:defRPr>
            </a:pPr>
            <a:r>
              <a:t>OptGraph  |  Compiler Design Research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73952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5F666E"/>
                </a:solidFill>
                <a:latin typeface="Aptos"/>
              </a:defRPr>
            </a:pPr>
            <a:r>
              <a:t>VIT Vellore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D3EB"/>
                </a:solidFill>
                <a:latin typeface="Aptos"/>
              </a:defRPr>
            </a:pPr>
            <a:r>
              <a:t>03  |  WHAT THE FIELD ALREADY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rPr sz="2700" b="1" dirty="0">
                <a:solidFill>
                  <a:srgbClr val="22272D"/>
                </a:solidFill>
                <a:latin typeface="Aptos"/>
              </a:rPr>
              <a:t>Literature Survey — ML &amp; Phase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434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292" cy="443484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MILEPOST GCC (2008–2011)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28800"/>
            <a:ext cx="3227832" cy="2512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BBACF"/>
                </a:solidFill>
                <a:latin typeface="Aptos"/>
              </a:defRPr>
            </a:pPr>
            <a:r>
              <a:rPr sz="1210" dirty="0">
                <a:solidFill>
                  <a:srgbClr val="5F666E"/>
                </a:solidFill>
                <a:latin typeface="Aptos"/>
              </a:rPr>
              <a:t>Uses machine learning and program features to adapt compiler optimization heuristics.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Contribution: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Established program-characterization + ML as a compiler optimization direction.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Focus: choosing profitable optimizations / heuristics.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Gap for </a:t>
            </a:r>
            <a:r>
              <a:rPr sz="1210" dirty="0" err="1">
                <a:solidFill>
                  <a:srgbClr val="5F666E"/>
                </a:solidFill>
                <a:latin typeface="Aptos"/>
              </a:rPr>
              <a:t>OptGraph</a:t>
            </a:r>
            <a:r>
              <a:rPr sz="1210" dirty="0">
                <a:solidFill>
                  <a:srgbClr val="5F666E"/>
                </a:solidFill>
                <a:latin typeface="Aptos"/>
              </a:rPr>
              <a:t>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It does not formulate the target as the interaction strength between a specific pair of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434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0292" cy="4434840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44475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LLVM MLGO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28800"/>
            <a:ext cx="3227832" cy="269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BBACF"/>
                </a:solidFill>
                <a:latin typeface="Aptos"/>
              </a:defRPr>
            </a:pPr>
            <a:r>
              <a:rPr sz="1210" dirty="0">
                <a:solidFill>
                  <a:srgbClr val="5F666E"/>
                </a:solidFill>
                <a:latin typeface="Aptos"/>
              </a:rPr>
              <a:t>LLVM integrates learned models into compiler heuristics, including inlining-for-size and register-allocation decisions.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Contribution: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Demonstrates practical ML integration inside LLVM.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Shows compiler decisions can be learned from compiler features.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Gap for </a:t>
            </a:r>
            <a:r>
              <a:rPr sz="1210" dirty="0" err="1">
                <a:solidFill>
                  <a:srgbClr val="5F666E"/>
                </a:solidFill>
                <a:latin typeface="Aptos"/>
              </a:rPr>
              <a:t>OptGraph</a:t>
            </a:r>
            <a:r>
              <a:rPr sz="1210" dirty="0">
                <a:solidFill>
                  <a:srgbClr val="5F666E"/>
                </a:solidFill>
                <a:latin typeface="Aptos"/>
              </a:rPr>
              <a:t>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The target is a compiler decision/heuristic — not a program-conditioned pairwise interaction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44348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50292" cy="4434840"/>
          </a:xfrm>
          <a:prstGeom prst="rect">
            <a:avLst/>
          </a:prstGeom>
          <a:solidFill>
            <a:srgbClr val="A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44475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 err="1">
                <a:solidFill>
                  <a:srgbClr val="265882"/>
                </a:solidFill>
                <a:latin typeface="Aptos"/>
              </a:rPr>
              <a:t>LLVMTuner</a:t>
            </a:r>
            <a:r>
              <a:rPr sz="1400" b="1" dirty="0">
                <a:solidFill>
                  <a:srgbClr val="265882"/>
                </a:solidFill>
                <a:latin typeface="Aptos"/>
              </a:rPr>
              <a:t> / Phase-Ordering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28800"/>
            <a:ext cx="3227832" cy="27422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30" b="0">
                <a:solidFill>
                  <a:srgbClr val="ABBACF"/>
                </a:solidFill>
                <a:latin typeface="Aptos"/>
              </a:defRPr>
            </a:pPr>
            <a:r>
              <a:rPr sz="1210" dirty="0">
                <a:solidFill>
                  <a:srgbClr val="5F666E"/>
                </a:solidFill>
                <a:latin typeface="Aptos"/>
              </a:rPr>
              <a:t>Recent systems search or predict effective optimization choices/sequences using LLVM IR features and performance feedback.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Contribution: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Addresses the enormous phase-ordering search space.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• Demonstrates predictive / search-based optimization tuning.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Gap for </a:t>
            </a:r>
            <a:r>
              <a:rPr sz="1210" dirty="0" err="1">
                <a:solidFill>
                  <a:srgbClr val="5F666E"/>
                </a:solidFill>
                <a:latin typeface="Aptos"/>
              </a:rPr>
              <a:t>OptGraph</a:t>
            </a:r>
            <a:r>
              <a:rPr sz="1210" dirty="0">
                <a:solidFill>
                  <a:srgbClr val="5F666E"/>
                </a:solidFill>
                <a:latin typeface="Aptos"/>
              </a:rPr>
              <a:t>:</a:t>
            </a:r>
            <a:br>
              <a:rPr sz="1210" dirty="0">
                <a:solidFill>
                  <a:srgbClr val="5F666E"/>
                </a:solidFill>
                <a:latin typeface="Aptos"/>
              </a:rPr>
            </a:br>
            <a:r>
              <a:rPr sz="1210" dirty="0">
                <a:solidFill>
                  <a:srgbClr val="5F666E"/>
                </a:solidFill>
                <a:latin typeface="Aptos"/>
              </a:rPr>
              <a:t>Sequence quality is the outcome; pairwise interaction between A and B is not the primary prediction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3620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BBACF"/>
                </a:solidFill>
                <a:latin typeface="Aptos"/>
              </a:defRPr>
            </a:pPr>
            <a:r>
              <a:t>Sources: Fursin et al., MILEPOST GCC; LLVM MLGO documentation; LLVMTuner (IEEE CSCWD 2025).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3D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BBACF"/>
                </a:solidFill>
                <a:latin typeface="Aptos"/>
              </a:defRPr>
            </a:pPr>
            <a:r>
              <a:t>OptGraph  |  Compiler Design Research Project  |  VIT Vellore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D3E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D3EB"/>
                </a:solidFill>
                <a:latin typeface="Aptos"/>
              </a:defRPr>
            </a:pPr>
            <a:r>
              <a:t>04  |  CLOSEST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rPr sz="2700" b="1" dirty="0">
                <a:solidFill>
                  <a:srgbClr val="22272D"/>
                </a:solidFill>
                <a:latin typeface="Aptos"/>
              </a:rPr>
              <a:t>Literature Survey — Pass Dependence &amp; Empirical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292" cy="448056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62074"/>
            <a:ext cx="5029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Efficient Compiler Optimization by Modeling Passes Dependence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57815"/>
            <a:ext cx="5010912" cy="2533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ABBACF"/>
                </a:solidFill>
                <a:latin typeface="Aptos"/>
              </a:defRPr>
            </a:pPr>
            <a:r>
              <a:rPr sz="1220" dirty="0">
                <a:solidFill>
                  <a:srgbClr val="5F666E"/>
                </a:solidFill>
                <a:latin typeface="Aptos"/>
              </a:rPr>
              <a:t>Liu et al. construct an Optimization Dependence Graph (ODG) using source-code dependence and pairwise performance dependence. They use the graph to cluster passes into subsequences for iterative compilation.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What this establishes: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Pass dependence can be measured empirically.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Graphs are useful for reasoning about pass relationships.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What </a:t>
            </a:r>
            <a:r>
              <a:rPr sz="1220" dirty="0" err="1">
                <a:solidFill>
                  <a:srgbClr val="5F666E"/>
                </a:solidFill>
                <a:latin typeface="Aptos"/>
              </a:rPr>
              <a:t>OptGraph</a:t>
            </a:r>
            <a:r>
              <a:rPr sz="1220" dirty="0">
                <a:solidFill>
                  <a:srgbClr val="5F666E"/>
                </a:solidFill>
                <a:latin typeface="Aptos"/>
              </a:rPr>
              <a:t> changes: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The interaction is explicitly conditioned on program P.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The goal is prediction on unseen programs, not only graph-based sequence construction.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448056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0292" cy="4480560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8129" y="1590535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Multi-Dimensional Per-Pass LLVM Study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116315"/>
            <a:ext cx="5010912" cy="2191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40" b="0">
                <a:solidFill>
                  <a:srgbClr val="ABBACF"/>
                </a:solidFill>
                <a:latin typeface="Aptos"/>
              </a:defRPr>
            </a:pPr>
            <a:r>
              <a:rPr sz="1220" dirty="0">
                <a:solidFill>
                  <a:srgbClr val="5F666E"/>
                </a:solidFill>
                <a:latin typeface="Aptos"/>
              </a:rPr>
              <a:t>Bruzzone &amp; Cazzola evaluate 113 cumulative -O3 prefixes across 30 </a:t>
            </a:r>
            <a:r>
              <a:rPr sz="1220" dirty="0" err="1">
                <a:solidFill>
                  <a:srgbClr val="5F666E"/>
                </a:solidFill>
                <a:latin typeface="Aptos"/>
              </a:rPr>
              <a:t>PolyBench</a:t>
            </a:r>
            <a:r>
              <a:rPr sz="1220" dirty="0">
                <a:solidFill>
                  <a:srgbClr val="5F666E"/>
                </a:solidFill>
                <a:latin typeface="Aptos"/>
              </a:rPr>
              <a:t>/C kernels and measure runtime, compile time, binary size, hardware counters and energy.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Key lesson: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Optimization effects are non-monotone and program-dependent.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IR instruction count alone is not a reliable runtime proxy.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Research opportunity: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Move from measuring observed pipeline effects to learning a reusable mapping from program structure → pairwise interaction.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5F8FC"/>
                </a:solidFill>
                <a:latin typeface="Aptos"/>
              </a:defRPr>
            </a:pPr>
            <a:r>
              <a:t>Literature synthesis: the field can SEARCH sequences and MEASURE dependence; OptGraph asks whether pairwise interaction itself can be CONDITIONED and PREDICTED.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3620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BBACF"/>
                </a:solidFill>
                <a:latin typeface="Aptos"/>
              </a:defRPr>
            </a:pPr>
            <a:r>
              <a:t>Sources: Liu et al., CCF Transactions on HPC, 2024; Bruzzone &amp; Cazzola, arXiv:2606.31238, 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3D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BBACF"/>
                </a:solidFill>
                <a:latin typeface="Aptos"/>
              </a:defRPr>
            </a:pPr>
            <a:r>
              <a:t>OptGraph  |  Compiler Design Research Project  |  VIT Vellore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D3E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65882"/>
                </a:solidFill>
                <a:latin typeface="Aptos"/>
              </a:defRPr>
            </a:pPr>
            <a:r>
              <a:t>05 | CONTROLLED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423361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2272D"/>
                </a:solidFill>
                <a:latin typeface="Aptos"/>
              </a:defRPr>
            </a:pPr>
            <a:r>
              <a:rPr dirty="0"/>
              <a:t>Implementation — Interaction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8346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F666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5354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F666E"/>
                </a:solidFill>
                <a:latin typeface="Aptos"/>
              </a:defRPr>
            </a:pPr>
            <a:r>
              <a:t>For each program P and pass pair (A,B), isolate the effect of ordering.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2A03B0-7868-3680-EED7-2BD8A8A850A2}"/>
              </a:ext>
            </a:extLst>
          </p:cNvPr>
          <p:cNvGrpSpPr/>
          <p:nvPr/>
        </p:nvGrpSpPr>
        <p:grpSpPr>
          <a:xfrm>
            <a:off x="777240" y="1401784"/>
            <a:ext cx="9601200" cy="1005840"/>
            <a:chOff x="777240" y="1828800"/>
            <a:chExt cx="9601200" cy="1005840"/>
          </a:xfrm>
        </p:grpSpPr>
        <p:sp>
          <p:nvSpPr>
            <p:cNvPr id="7" name="Rounded Rectangle 6"/>
            <p:cNvSpPr/>
            <p:nvPr/>
          </p:nvSpPr>
          <p:spPr>
            <a:xfrm>
              <a:off x="777240" y="1828800"/>
              <a:ext cx="1920240" cy="640080"/>
            </a:xfrm>
            <a:prstGeom prst="roundRect">
              <a:avLst/>
            </a:prstGeom>
            <a:solidFill>
              <a:srgbClr val="E8EEF3"/>
            </a:solidFill>
            <a:ln w="11430">
              <a:solidFill>
                <a:srgbClr val="2658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1837943"/>
              <a:ext cx="1883664" cy="6217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265882"/>
                  </a:solidFill>
                  <a:latin typeface="Aptos"/>
                </a:defRPr>
              </a:pPr>
              <a:r>
                <a:rPr dirty="0"/>
                <a:t>P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560320"/>
              <a:ext cx="19202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5F666E"/>
                  </a:solidFill>
                  <a:latin typeface="Aptos"/>
                </a:defRPr>
              </a:pPr>
              <a:r>
                <a:t>Baseline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697480" y="2148840"/>
              <a:ext cx="640080" cy="0"/>
            </a:xfrm>
            <a:prstGeom prst="line">
              <a:avLst/>
            </a:prstGeom>
            <a:ln w="19050">
              <a:solidFill>
                <a:srgbClr val="2658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3337560" y="1828800"/>
              <a:ext cx="1920240" cy="640080"/>
            </a:xfrm>
            <a:prstGeom prst="roundRect">
              <a:avLst/>
            </a:prstGeom>
            <a:solidFill>
              <a:srgbClr val="E8EEF3"/>
            </a:solidFill>
            <a:ln w="11430">
              <a:solidFill>
                <a:srgbClr val="5F6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55848" y="1837943"/>
              <a:ext cx="1883664" cy="6217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t>P → 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37560" y="2560320"/>
              <a:ext cx="19202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5F666E"/>
                  </a:solidFill>
                  <a:latin typeface="Aptos"/>
                </a:defRPr>
              </a:pPr>
              <a:r>
                <a:t>A alone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257800" y="2148840"/>
              <a:ext cx="640080" cy="0"/>
            </a:xfrm>
            <a:prstGeom prst="line">
              <a:avLst/>
            </a:prstGeom>
            <a:ln w="19050">
              <a:solidFill>
                <a:srgbClr val="2658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5897880" y="1828800"/>
              <a:ext cx="1920240" cy="640080"/>
            </a:xfrm>
            <a:prstGeom prst="roundRect">
              <a:avLst/>
            </a:prstGeom>
            <a:solidFill>
              <a:srgbClr val="E8EEF3"/>
            </a:solidFill>
            <a:ln w="11430">
              <a:solidFill>
                <a:srgbClr val="5F6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16168" y="1837943"/>
              <a:ext cx="1883664" cy="6217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t>P → 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97880" y="2560320"/>
              <a:ext cx="19202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5F666E"/>
                  </a:solidFill>
                  <a:latin typeface="Aptos"/>
                </a:defRPr>
              </a:pPr>
              <a:r>
                <a:t>B alone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7818120" y="2148840"/>
              <a:ext cx="640080" cy="0"/>
            </a:xfrm>
            <a:prstGeom prst="line">
              <a:avLst/>
            </a:prstGeom>
            <a:ln w="19050">
              <a:solidFill>
                <a:srgbClr val="2658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8458200" y="1828800"/>
              <a:ext cx="1920240" cy="640080"/>
            </a:xfrm>
            <a:prstGeom prst="roundRect">
              <a:avLst/>
            </a:prstGeom>
            <a:solidFill>
              <a:srgbClr val="E8EEF3"/>
            </a:solidFill>
            <a:ln w="11430">
              <a:solidFill>
                <a:srgbClr val="5F6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76488" y="1837943"/>
              <a:ext cx="1883664" cy="6217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t>P → A → 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58200" y="2560320"/>
              <a:ext cx="19202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5F666E"/>
                  </a:solidFill>
                  <a:latin typeface="Aptos"/>
                </a:defRPr>
              </a:pPr>
              <a:r>
                <a:t>Sequential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B7980C-D7E0-F8A4-4C6F-672C1AA32DC0}"/>
              </a:ext>
            </a:extLst>
          </p:cNvPr>
          <p:cNvGrpSpPr/>
          <p:nvPr/>
        </p:nvGrpSpPr>
        <p:grpSpPr>
          <a:xfrm>
            <a:off x="827826" y="3566160"/>
            <a:ext cx="10424160" cy="2697480"/>
            <a:chOff x="914400" y="3246120"/>
            <a:chExt cx="10424160" cy="2697480"/>
          </a:xfrm>
        </p:grpSpPr>
        <p:sp>
          <p:nvSpPr>
            <p:cNvPr id="22" name="TextBox 21"/>
            <p:cNvSpPr txBox="1"/>
            <p:nvPr/>
          </p:nvSpPr>
          <p:spPr>
            <a:xfrm>
              <a:off x="1828800" y="3246120"/>
              <a:ext cx="850392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300" b="1">
                  <a:solidFill>
                    <a:srgbClr val="265882"/>
                  </a:solidFill>
                  <a:latin typeface="Aptos"/>
                </a:defRPr>
              </a:pPr>
              <a:r>
                <a:t>Interaction score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8800" y="3584448"/>
              <a:ext cx="850392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2200" b="1">
                  <a:solidFill>
                    <a:srgbClr val="22272D"/>
                  </a:solidFill>
                  <a:latin typeface="Aptos"/>
                </a:defRPr>
              </a:pPr>
              <a:r>
                <a:rPr dirty="0"/>
                <a:t>I(A,B,P) = Δ(B | A,P) − Δ(B | P)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14DB8D8-EA1C-AB75-4D12-7837FEC76F8E}"/>
                </a:ext>
              </a:extLst>
            </p:cNvPr>
            <p:cNvGrpSpPr/>
            <p:nvPr/>
          </p:nvGrpSpPr>
          <p:grpSpPr>
            <a:xfrm>
              <a:off x="1371600" y="4249674"/>
              <a:ext cx="9418320" cy="160020"/>
              <a:chOff x="1371600" y="4572000"/>
              <a:chExt cx="9418320" cy="16002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371600" y="4709160"/>
                <a:ext cx="9418320" cy="22860"/>
              </a:xfrm>
              <a:prstGeom prst="rect">
                <a:avLst/>
              </a:prstGeom>
              <a:solidFill>
                <a:srgbClr val="969CA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" name="Connector 24"/>
              <p:cNvCxnSpPr/>
              <p:nvPr/>
            </p:nvCxnSpPr>
            <p:spPr>
              <a:xfrm flipH="1">
                <a:off x="1828800" y="4572000"/>
                <a:ext cx="4251960" cy="0"/>
              </a:xfrm>
              <a:prstGeom prst="line">
                <a:avLst/>
              </a:prstGeom>
              <a:ln w="19050">
                <a:solidFill>
                  <a:srgbClr val="9C48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 25"/>
              <p:cNvCxnSpPr/>
              <p:nvPr/>
            </p:nvCxnSpPr>
            <p:spPr>
              <a:xfrm>
                <a:off x="6080760" y="4572000"/>
                <a:ext cx="4251960" cy="0"/>
              </a:xfrm>
              <a:prstGeom prst="line">
                <a:avLst/>
              </a:prstGeom>
              <a:ln w="19050">
                <a:solidFill>
                  <a:srgbClr val="43745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/>
            <p:cNvSpPr txBox="1"/>
            <p:nvPr/>
          </p:nvSpPr>
          <p:spPr>
            <a:xfrm>
              <a:off x="914400" y="4598981"/>
              <a:ext cx="2468880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9C4848"/>
                  </a:solidFill>
                  <a:latin typeface="Aptos"/>
                </a:defRPr>
              </a:pPr>
              <a:r>
                <a:rPr sz="1600" dirty="0"/>
                <a:t>Antagonism  (I &lt; 0)</a:t>
              </a:r>
              <a:endParaRPr lang="en-US" sz="1600" dirty="0"/>
            </a:p>
            <a:p>
              <a:pPr>
                <a:defRPr sz="1200" b="1">
                  <a:solidFill>
                    <a:srgbClr val="9C4848"/>
                  </a:solidFill>
                  <a:latin typeface="Aptos"/>
                </a:defRPr>
              </a:pPr>
              <a:r>
                <a:rPr lang="en-US" dirty="0"/>
                <a:t>A removes or changes opportunities that B would otherwise exploit.</a:t>
              </a:r>
            </a:p>
            <a:p>
              <a:pPr algn="ctr">
                <a:defRPr sz="1200" b="1">
                  <a:solidFill>
                    <a:srgbClr val="9C4848"/>
                  </a:solidFill>
                  <a:latin typeface="Aptos"/>
                </a:defRPr>
              </a:pPr>
              <a:endParaRPr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00600" y="4598981"/>
              <a:ext cx="2560320" cy="89255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rPr sz="1600" dirty="0"/>
                <a:t>Independence  (I ≈ 0)</a:t>
              </a:r>
              <a:endParaRPr lang="en-US" sz="1600" dirty="0"/>
            </a:p>
            <a:p>
              <a:pPr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rPr lang="en-US" dirty="0"/>
                <a:t>A has little measurable effect on B's marginal benefit.</a:t>
              </a:r>
            </a:p>
            <a:p>
              <a:pPr algn="ctr">
                <a:defRPr sz="1200" b="1">
                  <a:solidFill>
                    <a:srgbClr val="5F666E"/>
                  </a:solidFill>
                  <a:latin typeface="Aptos"/>
                </a:defRPr>
              </a:pPr>
              <a:endParaRPr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732520" y="4598981"/>
              <a:ext cx="2468880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437457"/>
                  </a:solidFill>
                  <a:latin typeface="Aptos"/>
                </a:defRPr>
              </a:pPr>
              <a:r>
                <a:rPr sz="1600" dirty="0"/>
                <a:t>Synergy  (I &gt; 0)</a:t>
              </a:r>
              <a:endParaRPr lang="en-US" sz="1600" dirty="0"/>
            </a:p>
            <a:p>
              <a:pPr>
                <a:defRPr sz="1200" b="1">
                  <a:solidFill>
                    <a:srgbClr val="437457"/>
                  </a:solidFill>
                  <a:latin typeface="Aptos"/>
                </a:defRPr>
              </a:pPr>
              <a:r>
                <a:rPr lang="en-US" dirty="0"/>
                <a:t>A creates / exposes opportunities that make B more beneficial.</a:t>
              </a:r>
            </a:p>
            <a:p>
              <a:pPr algn="ctr">
                <a:defRPr sz="1200" b="1">
                  <a:solidFill>
                    <a:srgbClr val="437457"/>
                  </a:solidFill>
                  <a:latin typeface="Aptos"/>
                </a:defRPr>
              </a:pPr>
              <a:endParaRPr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14400" y="5623560"/>
              <a:ext cx="104241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200" b="1">
                  <a:solidFill>
                    <a:srgbClr val="5F666E"/>
                  </a:solidFill>
                  <a:latin typeface="Aptos"/>
                </a:defRPr>
              </a:pPr>
              <a:r>
                <a:t>Measure separately: IR changes • runtime/cycles • binary size • compilation time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5F666E"/>
                </a:solidFill>
                <a:latin typeface="Aptos"/>
              </a:defRPr>
            </a:pPr>
            <a:r>
              <a:t>OptGraph  |  Compiler Design Research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73952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5F666E"/>
                </a:solidFill>
                <a:latin typeface="Aptos"/>
              </a:defRPr>
            </a:pPr>
            <a:r>
              <a:t>VIT Vellore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977704-0230-37B8-FB22-BBA69800A14C}"/>
              </a:ext>
            </a:extLst>
          </p:cNvPr>
          <p:cNvGrpSpPr/>
          <p:nvPr/>
        </p:nvGrpSpPr>
        <p:grpSpPr>
          <a:xfrm>
            <a:off x="731520" y="2583725"/>
            <a:ext cx="9646920" cy="822960"/>
            <a:chOff x="594360" y="1417320"/>
            <a:chExt cx="9646920" cy="822960"/>
          </a:xfrm>
          <a:solidFill>
            <a:srgbClr val="E8EEF3"/>
          </a:solidFill>
        </p:grpSpPr>
        <p:sp>
          <p:nvSpPr>
            <p:cNvPr id="37" name="Rounded Rectangle 4">
              <a:extLst>
                <a:ext uri="{FF2B5EF4-FFF2-40B4-BE49-F238E27FC236}">
                  <a16:creationId xmlns:a16="http://schemas.microsoft.com/office/drawing/2014/main" id="{FAE8FED8-0476-BFE9-4640-61E9C7888A90}"/>
                </a:ext>
              </a:extLst>
            </p:cNvPr>
            <p:cNvSpPr/>
            <p:nvPr/>
          </p:nvSpPr>
          <p:spPr>
            <a:xfrm>
              <a:off x="59436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47D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EDCF28-8C17-B396-DB9F-382E37F60646}"/>
                </a:ext>
              </a:extLst>
            </p:cNvPr>
            <p:cNvSpPr txBox="1"/>
            <p:nvPr/>
          </p:nvSpPr>
          <p:spPr>
            <a:xfrm>
              <a:off x="640080" y="1588823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C / C++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benchmark</a:t>
              </a:r>
            </a:p>
          </p:txBody>
        </p:sp>
        <p:cxnSp>
          <p:nvCxnSpPr>
            <p:cNvPr id="39" name="Connector 6">
              <a:extLst>
                <a:ext uri="{FF2B5EF4-FFF2-40B4-BE49-F238E27FC236}">
                  <a16:creationId xmlns:a16="http://schemas.microsoft.com/office/drawing/2014/main" id="{D6937246-74A6-3D9A-8F7E-3F84B6B6A4A9}"/>
                </a:ext>
              </a:extLst>
            </p:cNvPr>
            <p:cNvCxnSpPr/>
            <p:nvPr/>
          </p:nvCxnSpPr>
          <p:spPr>
            <a:xfrm>
              <a:off x="2011680" y="1828800"/>
              <a:ext cx="228600" cy="0"/>
            </a:xfrm>
            <a:prstGeom prst="line">
              <a:avLst/>
            </a:prstGeom>
            <a:grpFill/>
            <a:ln w="17780">
              <a:solidFill>
                <a:srgbClr val="3D50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ounded Rectangle 7">
              <a:extLst>
                <a:ext uri="{FF2B5EF4-FFF2-40B4-BE49-F238E27FC236}">
                  <a16:creationId xmlns:a16="http://schemas.microsoft.com/office/drawing/2014/main" id="{3D04B2CE-CE8F-171A-4810-57C14EFA7D93}"/>
                </a:ext>
              </a:extLst>
            </p:cNvPr>
            <p:cNvSpPr/>
            <p:nvPr/>
          </p:nvSpPr>
          <p:spPr>
            <a:xfrm>
              <a:off x="224028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F5F8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36438B-E3FE-8800-5ECE-E7B7F45E0F95}"/>
                </a:ext>
              </a:extLst>
            </p:cNvPr>
            <p:cNvSpPr txBox="1"/>
            <p:nvPr/>
          </p:nvSpPr>
          <p:spPr>
            <a:xfrm>
              <a:off x="2286000" y="1588824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Clang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→ LLVM IR</a:t>
              </a:r>
            </a:p>
          </p:txBody>
        </p:sp>
        <p:cxnSp>
          <p:nvCxnSpPr>
            <p:cNvPr id="42" name="Connector 9">
              <a:extLst>
                <a:ext uri="{FF2B5EF4-FFF2-40B4-BE49-F238E27FC236}">
                  <a16:creationId xmlns:a16="http://schemas.microsoft.com/office/drawing/2014/main" id="{3E027B6C-E568-AFB5-2587-B77CE1EF2C83}"/>
                </a:ext>
              </a:extLst>
            </p:cNvPr>
            <p:cNvCxnSpPr/>
            <p:nvPr/>
          </p:nvCxnSpPr>
          <p:spPr>
            <a:xfrm>
              <a:off x="3657600" y="1828800"/>
              <a:ext cx="228600" cy="0"/>
            </a:xfrm>
            <a:prstGeom prst="line">
              <a:avLst/>
            </a:prstGeom>
            <a:grpFill/>
            <a:ln w="17780">
              <a:solidFill>
                <a:srgbClr val="3D50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10">
              <a:extLst>
                <a:ext uri="{FF2B5EF4-FFF2-40B4-BE49-F238E27FC236}">
                  <a16:creationId xmlns:a16="http://schemas.microsoft.com/office/drawing/2014/main" id="{B242EDDF-EC26-E093-C9B1-16A6CB1FE8B6}"/>
                </a:ext>
              </a:extLst>
            </p:cNvPr>
            <p:cNvSpPr/>
            <p:nvPr/>
          </p:nvSpPr>
          <p:spPr>
            <a:xfrm>
              <a:off x="388620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ABBA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CD96668-C0F6-6E94-BC3D-486B7531A4A2}"/>
                </a:ext>
              </a:extLst>
            </p:cNvPr>
            <p:cNvSpPr txBox="1"/>
            <p:nvPr/>
          </p:nvSpPr>
          <p:spPr>
            <a:xfrm>
              <a:off x="3931920" y="1588824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Baseline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P</a:t>
              </a:r>
            </a:p>
          </p:txBody>
        </p:sp>
        <p:cxnSp>
          <p:nvCxnSpPr>
            <p:cNvPr id="45" name="Connector 12">
              <a:extLst>
                <a:ext uri="{FF2B5EF4-FFF2-40B4-BE49-F238E27FC236}">
                  <a16:creationId xmlns:a16="http://schemas.microsoft.com/office/drawing/2014/main" id="{535A20A3-262C-C148-EAAE-D7CF36AB06A0}"/>
                </a:ext>
              </a:extLst>
            </p:cNvPr>
            <p:cNvCxnSpPr/>
            <p:nvPr/>
          </p:nvCxnSpPr>
          <p:spPr>
            <a:xfrm>
              <a:off x="5303520" y="1828800"/>
              <a:ext cx="228600" cy="0"/>
            </a:xfrm>
            <a:prstGeom prst="line">
              <a:avLst/>
            </a:prstGeom>
            <a:grpFill/>
            <a:ln w="17780">
              <a:solidFill>
                <a:srgbClr val="3D50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ounded Rectangle 13">
              <a:extLst>
                <a:ext uri="{FF2B5EF4-FFF2-40B4-BE49-F238E27FC236}">
                  <a16:creationId xmlns:a16="http://schemas.microsoft.com/office/drawing/2014/main" id="{986C8C8A-10A5-4B17-602D-2A71660C5B94}"/>
                </a:ext>
              </a:extLst>
            </p:cNvPr>
            <p:cNvSpPr/>
            <p:nvPr/>
          </p:nvSpPr>
          <p:spPr>
            <a:xfrm>
              <a:off x="553212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FFB1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BD01CDA-AF8E-724B-CFC2-5A4ACE687BD6}"/>
                </a:ext>
              </a:extLst>
            </p:cNvPr>
            <p:cNvSpPr txBox="1"/>
            <p:nvPr/>
          </p:nvSpPr>
          <p:spPr>
            <a:xfrm>
              <a:off x="5577840" y="1588824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Pass A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P→A</a:t>
              </a:r>
            </a:p>
          </p:txBody>
        </p:sp>
        <p:cxnSp>
          <p:nvCxnSpPr>
            <p:cNvPr id="48" name="Connector 15">
              <a:extLst>
                <a:ext uri="{FF2B5EF4-FFF2-40B4-BE49-F238E27FC236}">
                  <a16:creationId xmlns:a16="http://schemas.microsoft.com/office/drawing/2014/main" id="{76390ECB-C433-17EF-CF0F-F7636423AB6C}"/>
                </a:ext>
              </a:extLst>
            </p:cNvPr>
            <p:cNvCxnSpPr/>
            <p:nvPr/>
          </p:nvCxnSpPr>
          <p:spPr>
            <a:xfrm>
              <a:off x="6949440" y="1828800"/>
              <a:ext cx="228600" cy="0"/>
            </a:xfrm>
            <a:prstGeom prst="line">
              <a:avLst/>
            </a:prstGeom>
            <a:grpFill/>
            <a:ln w="17780">
              <a:solidFill>
                <a:srgbClr val="3D50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16">
              <a:extLst>
                <a:ext uri="{FF2B5EF4-FFF2-40B4-BE49-F238E27FC236}">
                  <a16:creationId xmlns:a16="http://schemas.microsoft.com/office/drawing/2014/main" id="{55835EC0-9BD1-203A-F05D-39A6BE77E90A}"/>
                </a:ext>
              </a:extLst>
            </p:cNvPr>
            <p:cNvSpPr/>
            <p:nvPr/>
          </p:nvSpPr>
          <p:spPr>
            <a:xfrm>
              <a:off x="717804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AE8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578D582-C7C2-64C5-89C5-15DCFB42F625}"/>
                </a:ext>
              </a:extLst>
            </p:cNvPr>
            <p:cNvSpPr txBox="1"/>
            <p:nvPr/>
          </p:nvSpPr>
          <p:spPr>
            <a:xfrm>
              <a:off x="7223759" y="1588824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Pass</a:t>
              </a:r>
              <a:r>
                <a:rPr dirty="0"/>
                <a:t> </a:t>
              </a:r>
              <a:r>
                <a:rPr sz="1200" b="1" dirty="0">
                  <a:solidFill>
                    <a:srgbClr val="265882"/>
                  </a:solidFill>
                  <a:latin typeface="Aptos"/>
                </a:rPr>
                <a:t>B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P→B</a:t>
              </a:r>
            </a:p>
          </p:txBody>
        </p:sp>
        <p:cxnSp>
          <p:nvCxnSpPr>
            <p:cNvPr id="51" name="Connector 18">
              <a:extLst>
                <a:ext uri="{FF2B5EF4-FFF2-40B4-BE49-F238E27FC236}">
                  <a16:creationId xmlns:a16="http://schemas.microsoft.com/office/drawing/2014/main" id="{747A8949-D145-419F-794A-808AFE0121CC}"/>
                </a:ext>
              </a:extLst>
            </p:cNvPr>
            <p:cNvCxnSpPr/>
            <p:nvPr/>
          </p:nvCxnSpPr>
          <p:spPr>
            <a:xfrm>
              <a:off x="8595360" y="1828800"/>
              <a:ext cx="228600" cy="0"/>
            </a:xfrm>
            <a:prstGeom prst="line">
              <a:avLst/>
            </a:prstGeom>
            <a:grpFill/>
            <a:ln w="17780">
              <a:solidFill>
                <a:srgbClr val="3D50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19">
              <a:extLst>
                <a:ext uri="{FF2B5EF4-FFF2-40B4-BE49-F238E27FC236}">
                  <a16:creationId xmlns:a16="http://schemas.microsoft.com/office/drawing/2014/main" id="{364515A9-50BF-C279-AC68-90E5874617E8}"/>
                </a:ext>
              </a:extLst>
            </p:cNvPr>
            <p:cNvSpPr/>
            <p:nvPr/>
          </p:nvSpPr>
          <p:spPr>
            <a:xfrm>
              <a:off x="8823960" y="1417320"/>
              <a:ext cx="1417320" cy="822960"/>
            </a:xfrm>
            <a:prstGeom prst="roundRect">
              <a:avLst/>
            </a:prstGeom>
            <a:grpFill/>
            <a:ln w="16510">
              <a:solidFill>
                <a:srgbClr val="57DA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BAE6804-2358-3103-98D1-116C9B2EC4E0}"/>
                </a:ext>
              </a:extLst>
            </p:cNvPr>
            <p:cNvSpPr txBox="1"/>
            <p:nvPr/>
          </p:nvSpPr>
          <p:spPr>
            <a:xfrm>
              <a:off x="8869680" y="1588823"/>
              <a:ext cx="1325880" cy="461665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>
                <a:defRPr sz="1150" b="1">
                  <a:solidFill>
                    <a:srgbClr val="F5F8FC"/>
                  </a:solidFill>
                  <a:latin typeface="Aptos"/>
                </a:defRPr>
              </a:pPr>
              <a:r>
                <a:rPr sz="1200" b="1" dirty="0">
                  <a:solidFill>
                    <a:srgbClr val="265882"/>
                  </a:solidFill>
                  <a:latin typeface="Aptos"/>
                </a:rPr>
                <a:t>A → B</a:t>
              </a:r>
              <a:br>
                <a:rPr sz="1200" b="1" dirty="0">
                  <a:solidFill>
                    <a:srgbClr val="265882"/>
                  </a:solidFill>
                  <a:latin typeface="Aptos"/>
                </a:rPr>
              </a:br>
              <a:r>
                <a:rPr sz="1200" b="1" dirty="0">
                  <a:solidFill>
                    <a:srgbClr val="265882"/>
                  </a:solidFill>
                  <a:latin typeface="Aptos"/>
                </a:rPr>
                <a:t>P→A→B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D3EB"/>
                </a:solidFill>
                <a:latin typeface="Aptos"/>
              </a:defRPr>
            </a:pPr>
            <a:r>
              <a:t>06  |  TURNING EXPERIMENTS INTO A RESEARCH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rPr sz="2700" b="1" dirty="0">
                <a:solidFill>
                  <a:srgbClr val="22272D"/>
                </a:solidFill>
                <a:latin typeface="Aptos"/>
              </a:rPr>
              <a:t>Implementation — Features, Graph &amp;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452628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292" cy="4526280"/>
          </a:xfrm>
          <a:prstGeom prst="rect">
            <a:avLst/>
          </a:prstGeom>
          <a:solidFill>
            <a:srgbClr val="47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Program / IR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28800"/>
            <a:ext cx="3044952" cy="26330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70" b="0">
                <a:solidFill>
                  <a:srgbClr val="ABBACF"/>
                </a:solidFill>
                <a:latin typeface="Aptos"/>
              </a:defRPr>
            </a:pPr>
            <a:r>
              <a:rPr sz="1220" dirty="0">
                <a:solidFill>
                  <a:srgbClr val="5F666E"/>
                </a:solidFill>
                <a:latin typeface="Aptos"/>
              </a:rPr>
              <a:t>Static features extracted before the target interaction: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Instruction count &amp; instruction mix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Basic blocks, CFG edges &amp; density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Loop count / maximum loop depth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Branches &amp; PHI nodes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Loads, stores &amp; memory ratio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Calls &amp; arithmetic intensity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• SSA</a:t>
            </a:r>
            <a:r>
              <a:rPr lang="en-US" sz="1220" dirty="0">
                <a:solidFill>
                  <a:srgbClr val="5F666E"/>
                </a:solidFill>
                <a:latin typeface="Aptos"/>
              </a:rPr>
              <a:t>(static single assignment, i.e. every variable is assigned a value exactly once)</a:t>
            </a:r>
            <a:r>
              <a:rPr sz="1220" dirty="0">
                <a:solidFill>
                  <a:srgbClr val="5F666E"/>
                </a:solidFill>
                <a:latin typeface="Aptos"/>
              </a:rPr>
              <a:t> / IR</a:t>
            </a:r>
            <a:r>
              <a:rPr lang="en-US" sz="1220" dirty="0">
                <a:solidFill>
                  <a:srgbClr val="5F666E"/>
                </a:solidFill>
                <a:latin typeface="Aptos"/>
              </a:rPr>
              <a:t>(Intermediate Representation)</a:t>
            </a:r>
            <a:r>
              <a:rPr sz="1220" dirty="0">
                <a:solidFill>
                  <a:srgbClr val="5F666E"/>
                </a:solidFill>
                <a:latin typeface="Aptos"/>
              </a:rPr>
              <a:t> structural statistics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657600" cy="452628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3D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50292" cy="4526280"/>
          </a:xfrm>
          <a:prstGeom prst="rect">
            <a:avLst/>
          </a:prstGeom>
          <a:solidFill>
            <a:srgbClr val="57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44475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rPr sz="1400" b="1" dirty="0">
                <a:solidFill>
                  <a:srgbClr val="265882"/>
                </a:solidFill>
                <a:latin typeface="Aptos"/>
              </a:rPr>
              <a:t>Program-Conditioned</a:t>
            </a:r>
            <a:r>
              <a:rPr lang="en-US" sz="1400" b="1" dirty="0">
                <a:solidFill>
                  <a:srgbClr val="265882"/>
                </a:solidFill>
                <a:latin typeface="Aptos"/>
              </a:rPr>
              <a:t> OIG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325112" y="1828800"/>
            <a:ext cx="3364992" cy="21575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70" b="0">
                <a:solidFill>
                  <a:srgbClr val="ABBACF"/>
                </a:solidFill>
                <a:latin typeface="Aptos"/>
              </a:defRPr>
            </a:pPr>
            <a:r>
              <a:rPr sz="1220" dirty="0">
                <a:solidFill>
                  <a:srgbClr val="5F666E"/>
                </a:solidFill>
                <a:latin typeface="Aptos"/>
              </a:rPr>
              <a:t>For a fixed program P: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Nodes = optimization passes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Edges = pairwise interactions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Weight = I(A,B,P)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Sign = synergy / antagonism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Metadata = confidence + metric</a:t>
            </a:r>
            <a:br>
              <a:rPr sz="1220" dirty="0">
                <a:solidFill>
                  <a:srgbClr val="5F666E"/>
                </a:solidFill>
                <a:latin typeface="Aptos"/>
              </a:rPr>
            </a:br>
            <a:br>
              <a:rPr sz="1220" dirty="0">
                <a:solidFill>
                  <a:srgbClr val="5F666E"/>
                </a:solidFill>
                <a:latin typeface="Aptos"/>
              </a:rPr>
            </a:br>
            <a:r>
              <a:rPr sz="1220" dirty="0">
                <a:solidFill>
                  <a:srgbClr val="5F666E"/>
                </a:solidFill>
                <a:latin typeface="Aptos"/>
              </a:rPr>
              <a:t>Compare graphs across program families to reveal which relationships are stable and which are context-sensitive.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50292" cy="4526280"/>
          </a:xfrm>
          <a:prstGeom prst="rect">
            <a:avLst/>
          </a:prstGeom>
          <a:solidFill>
            <a:srgbClr val="A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A9BC08A-213C-C78A-C602-947FDD50E29C}"/>
              </a:ext>
            </a:extLst>
          </p:cNvPr>
          <p:cNvGrpSpPr/>
          <p:nvPr/>
        </p:nvGrpSpPr>
        <p:grpSpPr>
          <a:xfrm>
            <a:off x="8001000" y="1325880"/>
            <a:ext cx="3520440" cy="4526280"/>
            <a:chOff x="8001000" y="1325880"/>
            <a:chExt cx="3520440" cy="4526280"/>
          </a:xfrm>
          <a:solidFill>
            <a:srgbClr val="FFFFFD"/>
          </a:solidFill>
        </p:grpSpPr>
        <p:sp>
          <p:nvSpPr>
            <p:cNvPr id="13" name="Rounded Rectangle 12"/>
            <p:cNvSpPr/>
            <p:nvPr/>
          </p:nvSpPr>
          <p:spPr>
            <a:xfrm>
              <a:off x="8001000" y="1325880"/>
              <a:ext cx="3520440" cy="4526280"/>
            </a:xfrm>
            <a:prstGeom prst="roundRect">
              <a:avLst/>
            </a:prstGeom>
            <a:grpFill/>
            <a:ln w="10160">
              <a:solidFill>
                <a:srgbClr val="3D506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06740" y="1522476"/>
              <a:ext cx="3246120" cy="320040"/>
            </a:xfrm>
            <a:prstGeom prst="rect">
              <a:avLst/>
            </a:prstGeom>
            <a:grpFill/>
          </p:spPr>
          <p:txBody>
            <a:bodyPr wrap="square" anchor="t">
              <a:spAutoFit/>
            </a:bodyPr>
            <a:lstStyle/>
            <a:p>
              <a:pPr algn="l">
                <a:defRPr sz="1500" b="1">
                  <a:solidFill>
                    <a:srgbClr val="F5F8FC"/>
                  </a:solidFill>
                  <a:latin typeface="Aptos"/>
                </a:defRPr>
              </a:pPr>
              <a:r>
                <a:rPr sz="1400" b="1" dirty="0">
                  <a:solidFill>
                    <a:srgbClr val="265882"/>
                  </a:solidFill>
                  <a:latin typeface="Aptos"/>
                </a:rPr>
                <a:t>Prediction on Unseen</a:t>
              </a:r>
              <a:r>
                <a:rPr dirty="0"/>
                <a:t> </a:t>
              </a:r>
              <a:r>
                <a:rPr sz="1400" b="1" dirty="0">
                  <a:solidFill>
                    <a:srgbClr val="265882"/>
                  </a:solidFill>
                  <a:latin typeface="Aptos"/>
                </a:rPr>
                <a:t>Code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15884" y="1876509"/>
              <a:ext cx="3227832" cy="3283976"/>
            </a:xfrm>
            <a:prstGeom prst="rect">
              <a:avLst/>
            </a:prstGeom>
            <a:grpFill/>
          </p:spPr>
          <p:txBody>
            <a:bodyPr wrap="square" anchor="t">
              <a:spAutoFit/>
            </a:bodyPr>
            <a:lstStyle/>
            <a:p>
              <a:pPr algn="l">
                <a:defRPr sz="1220" b="0">
                  <a:solidFill>
                    <a:srgbClr val="ABBACF"/>
                  </a:solidFill>
                  <a:latin typeface="Aptos"/>
                </a:defRPr>
              </a:pPr>
              <a:r>
                <a:rPr sz="1220" dirty="0">
                  <a:solidFill>
                    <a:srgbClr val="5F666E"/>
                  </a:solidFill>
                  <a:latin typeface="Aptos"/>
                </a:rPr>
                <a:t>Model input: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[program features + pass A + pass B]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Models: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Linear / Logistic baseline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Random Forest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</a:t>
              </a:r>
              <a:r>
                <a:rPr sz="1220" dirty="0" err="1">
                  <a:solidFill>
                    <a:srgbClr val="5F666E"/>
                  </a:solidFill>
                  <a:latin typeface="Aptos"/>
                </a:rPr>
                <a:t>XGBoost</a:t>
              </a:r>
              <a:r>
                <a:rPr sz="1220" dirty="0">
                  <a:solidFill>
                    <a:srgbClr val="5F666E"/>
                  </a:solidFill>
                  <a:latin typeface="Aptos"/>
                </a:rPr>
                <a:t> / Gradient Boosting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Evaluation: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MAE</a:t>
              </a:r>
              <a:r>
                <a:rPr lang="en-US" sz="1220" dirty="0">
                  <a:solidFill>
                    <a:srgbClr val="5F666E"/>
                  </a:solidFill>
                  <a:latin typeface="Aptos"/>
                </a:rPr>
                <a:t>(Mean Absolute error)</a:t>
              </a:r>
              <a:r>
                <a:rPr sz="1220" dirty="0">
                  <a:solidFill>
                    <a:srgbClr val="5F666E"/>
                  </a:solidFill>
                  <a:latin typeface="Aptos"/>
                </a:rPr>
                <a:t> / RMSE</a:t>
              </a:r>
              <a:r>
                <a:rPr lang="en-US" sz="1220" dirty="0">
                  <a:solidFill>
                    <a:srgbClr val="5F666E"/>
                  </a:solidFill>
                  <a:latin typeface="Aptos"/>
                </a:rPr>
                <a:t>(Root mean square error)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Pearson / Spearman correlation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Sign classification F1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• Program-level holdout</a:t>
              </a: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br>
                <a:rPr sz="1220" dirty="0">
                  <a:solidFill>
                    <a:srgbClr val="5F666E"/>
                  </a:solidFill>
                  <a:latin typeface="Aptos"/>
                </a:rPr>
              </a:br>
              <a:r>
                <a:rPr sz="1220" dirty="0">
                  <a:solidFill>
                    <a:srgbClr val="5F666E"/>
                  </a:solidFill>
                  <a:latin typeface="Aptos"/>
                </a:rPr>
                <a:t>Critical rule: split by program, not individual measurements.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777240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5F8FC"/>
                </a:solidFill>
                <a:latin typeface="Aptos"/>
              </a:defRPr>
            </a:pPr>
            <a:r>
              <a:t>W1</a:t>
            </a:r>
            <a:br/>
            <a:r>
              <a:t>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5F8FC"/>
                </a:solidFill>
                <a:latin typeface="Aptos"/>
              </a:defRPr>
            </a:pPr>
            <a:r>
              <a:t>W2</a:t>
            </a:r>
            <a:br/>
            <a:r>
              <a:t>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264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5F8FC"/>
                </a:solidFill>
                <a:latin typeface="Aptos"/>
              </a:defRPr>
            </a:pPr>
            <a:r>
              <a:t>W3</a:t>
            </a:r>
            <a:br/>
            <a:r>
              <a:t>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5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775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5F8FC"/>
                </a:solidFill>
                <a:latin typeface="Aptos"/>
              </a:defRPr>
            </a:pPr>
            <a:r>
              <a:t>W4</a:t>
            </a:r>
            <a:br/>
            <a:r>
              <a:t>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19288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5F8FC"/>
                </a:solidFill>
                <a:latin typeface="Aptos"/>
              </a:defRPr>
            </a:pPr>
            <a:r>
              <a:t>W5</a:t>
            </a:r>
            <a:br/>
            <a:r>
              <a:t>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5989320"/>
            <a:ext cx="1554480" cy="310896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599846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47D3EB"/>
                </a:solidFill>
                <a:latin typeface="Aptos"/>
              </a:defRPr>
            </a:pPr>
            <a:r>
              <a:t>W6</a:t>
            </a:r>
            <a:br/>
            <a:r>
              <a:t>Eval + Paper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3D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BBACF"/>
                </a:solidFill>
                <a:latin typeface="Aptos"/>
              </a:defRPr>
            </a:pPr>
            <a:r>
              <a:t>OptGraph  |  Compiler Design Research Project  |  VIT Vellore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D3E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65882"/>
                </a:solidFill>
                <a:latin typeface="Aptos"/>
              </a:defRPr>
            </a:pPr>
            <a:r>
              <a:t>07 | WHAT IS ACTUALLY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2272D"/>
                </a:solidFill>
                <a:latin typeface="Aptos"/>
              </a:defRPr>
            </a:pPr>
            <a: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8346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F666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2272D"/>
                </a:solidFill>
                <a:latin typeface="Aptos"/>
              </a:defRPr>
            </a:pPr>
            <a:r>
              <a:t>The novelty is the prediction target — not the existence of pass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468880" cy="45720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46504"/>
            <a:ext cx="24323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Prior 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37360"/>
            <a:ext cx="2240280" cy="45720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4408" y="1746504"/>
            <a:ext cx="2203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Primary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737360"/>
            <a:ext cx="2240280" cy="45720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41848" y="1746504"/>
            <a:ext cx="2203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Program-conditioned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520440" cy="457200"/>
          </a:xfrm>
          <a:prstGeom prst="roundRect">
            <a:avLst/>
          </a:prstGeom>
          <a:solidFill>
            <a:srgbClr val="E5EDF4"/>
          </a:solidFill>
          <a:ln w="1143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1746504"/>
            <a:ext cx="348386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65882"/>
                </a:solidFill>
                <a:latin typeface="Aptos"/>
              </a:defRPr>
            </a:pPr>
            <a:r>
              <a:t>Unseen pair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04288"/>
            <a:ext cx="24688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ML-guided optimization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304288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39" y="235000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Choose / rank passes or sequences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304288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235000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Often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304288"/>
            <a:ext cx="352044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2350008"/>
            <a:ext cx="3429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Not the core target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990088"/>
            <a:ext cx="24688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03580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Pass dependence / ODG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2990088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39" y="303580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Graph / sequence construction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2990088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303580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Partly / empirical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990088"/>
            <a:ext cx="352044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3035808"/>
            <a:ext cx="3429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Not the core 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75887"/>
            <a:ext cx="24688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721607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Per-pass empirical studies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3675887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39" y="3721607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Measure observed effects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675887"/>
            <a:ext cx="224028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721607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Yes, experimentally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3675887"/>
            <a:ext cx="3520440" cy="566928"/>
          </a:xfrm>
          <a:prstGeom prst="roundRect">
            <a:avLst/>
          </a:prstGeom>
          <a:solidFill>
            <a:srgbClr val="FFFFFD"/>
          </a:solidFill>
          <a:ln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0" y="3721607"/>
            <a:ext cx="3429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0">
                <a:solidFill>
                  <a:srgbClr val="22272D"/>
                </a:solidFill>
                <a:latin typeface="Aptos"/>
              </a:defRPr>
            </a:pPr>
            <a:r>
              <a:t>No predictive model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361688"/>
            <a:ext cx="2468880" cy="566928"/>
          </a:xfrm>
          <a:prstGeom prst="roundRect">
            <a:avLst/>
          </a:prstGeom>
          <a:solidFill>
            <a:srgbClr val="F4F8FB"/>
          </a:solidFill>
          <a:ln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407407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265882"/>
                </a:solidFill>
                <a:latin typeface="Aptos"/>
              </a:defRPr>
            </a:pPr>
            <a:r>
              <a:t>OPTGRAPH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6120" y="4361688"/>
            <a:ext cx="2240280" cy="566928"/>
          </a:xfrm>
          <a:prstGeom prst="roundRect">
            <a:avLst/>
          </a:prstGeom>
          <a:solidFill>
            <a:srgbClr val="F4F8FB"/>
          </a:solidFill>
          <a:ln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39" y="4407407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265882"/>
                </a:solidFill>
                <a:latin typeface="Aptos"/>
              </a:defRPr>
            </a:pPr>
            <a:r>
              <a:t>Pairwise interaction 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23560" y="4361688"/>
            <a:ext cx="2240280" cy="566928"/>
          </a:xfrm>
          <a:prstGeom prst="roundRect">
            <a:avLst/>
          </a:prstGeom>
          <a:solidFill>
            <a:srgbClr val="F4F8FB"/>
          </a:solidFill>
          <a:ln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0" y="4407407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265882"/>
                </a:solidFill>
                <a:latin typeface="Aptos"/>
              </a:defRPr>
            </a:pPr>
            <a:r>
              <a:t>YES — explicit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4361688"/>
            <a:ext cx="3520440" cy="566928"/>
          </a:xfrm>
          <a:prstGeom prst="roundRect">
            <a:avLst/>
          </a:prstGeom>
          <a:solidFill>
            <a:srgbClr val="F4F8FB"/>
          </a:solidFill>
          <a:ln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0" y="4407407"/>
            <a:ext cx="3429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265882"/>
                </a:solidFill>
                <a:latin typeface="Aptos"/>
              </a:defRPr>
            </a:pPr>
            <a:r>
              <a:t>YES — primary objective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038344"/>
            <a:ext cx="10469880" cy="658368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7552" y="5116907"/>
            <a:ext cx="1014069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265882"/>
                </a:solidFill>
                <a:latin typeface="Aptos"/>
              </a:defRPr>
            </a:pPr>
            <a:r>
              <a:rPr lang="en-US" dirty="0"/>
              <a:t>Core contribution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" y="5367528"/>
            <a:ext cx="10140696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6E"/>
                </a:solidFill>
                <a:latin typeface="Aptos"/>
              </a:defRPr>
            </a:pPr>
            <a:r>
              <a:rPr dirty="0"/>
              <a:t>I(A,B,P) is treated as a function of the pass pair AND the structural context of program P, then learned for unseen programs.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053328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5F666E"/>
                </a:solidFill>
                <a:latin typeface="Aptos"/>
              </a:defRPr>
            </a:pPr>
            <a:r>
              <a:rPr dirty="0"/>
              <a:t>Precise claim: program-conditioned quantification + prediction of pairwise optimization-pass interaction.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5F666E"/>
                </a:solidFill>
                <a:latin typeface="Aptos"/>
              </a:defRPr>
            </a:pPr>
            <a:r>
              <a:t>OptGraph  |  Compiler Design Research Project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473952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5F666E"/>
                </a:solidFill>
                <a:latin typeface="Aptos"/>
              </a:defRPr>
            </a:pPr>
            <a:r>
              <a:t>VIT Vellore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023855-93B0-6D46-AD59-894FC803C4C6}"/>
              </a:ext>
            </a:extLst>
          </p:cNvPr>
          <p:cNvSpPr txBox="1"/>
          <p:nvPr/>
        </p:nvSpPr>
        <p:spPr>
          <a:xfrm>
            <a:off x="4749847" y="5758848"/>
            <a:ext cx="6136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5882"/>
                </a:solidFill>
                <a:latin typeface="Aptos"/>
              </a:defRPr>
            </a:pPr>
            <a:r>
              <a:rPr lang="en-US" sz="1400" dirty="0"/>
              <a:t>Novelty Score is 9.3-9.5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65882"/>
                </a:solidFill>
                <a:latin typeface="Aptos"/>
              </a:defRPr>
            </a:pPr>
            <a:r>
              <a:t>08 | WHAT THE PROJECT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2272D"/>
                </a:solidFill>
                <a:latin typeface="Aptos"/>
              </a:defRPr>
            </a:pPr>
            <a:r>
              <a:t>Expected 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8346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F666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280160"/>
            <a:ext cx="566928" cy="566928"/>
          </a:xfrm>
          <a:prstGeom prst="ellipse">
            <a:avLst/>
          </a:prstGeom>
          <a:solidFill>
            <a:srgbClr val="E5EDF4"/>
          </a:solidFill>
          <a:ln w="1270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399032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658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72D"/>
                </a:solidFill>
                <a:latin typeface="Aptos"/>
              </a:defRPr>
            </a:pPr>
            <a:r>
              <a:t>Controlled</a:t>
            </a:r>
            <a:br/>
            <a:r>
              <a:t>experiments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7128" y="1563624"/>
            <a:ext cx="54864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20439" y="1280160"/>
            <a:ext cx="566928" cy="566928"/>
          </a:xfrm>
          <a:prstGeom prst="ellipse">
            <a:avLst/>
          </a:prstGeom>
          <a:solidFill>
            <a:srgbClr val="E5EDF4"/>
          </a:solidFill>
          <a:ln w="1270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1399032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658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0574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72D"/>
                </a:solidFill>
                <a:latin typeface="Aptos"/>
              </a:defRPr>
            </a:pPr>
            <a:r>
              <a:t>Interaction</a:t>
            </a:r>
            <a:br/>
            <a:r>
              <a:t>dataset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1563624"/>
            <a:ext cx="548639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88152" y="1280160"/>
            <a:ext cx="566928" cy="566928"/>
          </a:xfrm>
          <a:prstGeom prst="ellipse">
            <a:avLst/>
          </a:prstGeom>
          <a:solidFill>
            <a:srgbClr val="E5EDF4"/>
          </a:solidFill>
          <a:ln w="1270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8152" y="1399032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658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72D"/>
                </a:solidFill>
                <a:latin typeface="Aptos"/>
              </a:defRPr>
            </a:pPr>
            <a:r>
              <a:t>PC-OIG</a:t>
            </a:r>
            <a:br/>
            <a:r>
              <a:t>graphs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02552" y="1563624"/>
            <a:ext cx="54864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55864" y="1280160"/>
            <a:ext cx="566928" cy="566928"/>
          </a:xfrm>
          <a:prstGeom prst="ellipse">
            <a:avLst/>
          </a:prstGeom>
          <a:solidFill>
            <a:srgbClr val="E5EDF4"/>
          </a:solidFill>
          <a:ln w="1270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55864" y="1399032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658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20574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72D"/>
                </a:solidFill>
                <a:latin typeface="Aptos"/>
              </a:defRPr>
            </a:pPr>
            <a:r>
              <a:t>ML prediction</a:t>
            </a:r>
            <a:br/>
            <a:r>
              <a:t>on unseen code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70264" y="1563624"/>
            <a:ext cx="548640" cy="0"/>
          </a:xfrm>
          <a:prstGeom prst="line">
            <a:avLst/>
          </a:prstGeom>
          <a:ln w="19050">
            <a:solidFill>
              <a:srgbClr val="265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323576" y="1280160"/>
            <a:ext cx="566928" cy="566928"/>
          </a:xfrm>
          <a:prstGeom prst="ellipse">
            <a:avLst/>
          </a:prstGeom>
          <a:solidFill>
            <a:srgbClr val="E5EDF4"/>
          </a:solidFill>
          <a:ln w="12700">
            <a:solidFill>
              <a:srgbClr val="26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23576" y="1399032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658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0574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72D"/>
                </a:solidFill>
                <a:latin typeface="Aptos"/>
              </a:defRPr>
            </a:pPr>
            <a:r>
              <a:t>Compiler</a:t>
            </a:r>
            <a:br/>
            <a:r>
              <a:t>insights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154680"/>
            <a:ext cx="3429000" cy="19202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3273552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65882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639312"/>
            <a:ext cx="309981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6E"/>
                </a:solidFill>
                <a:latin typeface="Aptos"/>
              </a:defRPr>
            </a:pPr>
            <a:r>
              <a:t>Automated LLVM experimentation harness</a:t>
            </a:r>
            <a:br/>
            <a:r>
              <a:t>Interaction dataset + PC-OIG visualizations</a:t>
            </a:r>
            <a:br/>
            <a:r>
              <a:t>Prediction models + evaluation</a:t>
            </a:r>
            <a:br/>
            <a:r>
              <a:t>Paper-ready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154680"/>
            <a:ext cx="3429000" cy="19202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3273552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37457"/>
                </a:solidFill>
                <a:latin typeface="Aptos"/>
              </a:defRPr>
            </a:pPr>
            <a:r>
              <a:t>Syllabus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639312"/>
            <a:ext cx="309981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6E"/>
                </a:solidFill>
                <a:latin typeface="Aptos"/>
              </a:defRPr>
            </a:pPr>
            <a:r>
              <a:t>LLVM / IR • basic blocks • CFG</a:t>
            </a:r>
            <a:br/>
            <a:r>
              <a:t>Data-flow • loops • machine-independent optimization</a:t>
            </a:r>
            <a:br/>
            <a:r>
              <a:t>SSA • code generation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154680"/>
            <a:ext cx="3429000" cy="1920240"/>
          </a:xfrm>
          <a:prstGeom prst="roundRect">
            <a:avLst/>
          </a:prstGeom>
          <a:solidFill>
            <a:srgbClr val="FFFFFD"/>
          </a:solidFill>
          <a:ln w="10160">
            <a:solidFill>
              <a:srgbClr val="D3D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57031" y="3273552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5082"/>
                </a:solidFill>
                <a:latin typeface="Aptos"/>
              </a:defRPr>
            </a:pPr>
            <a:r>
              <a:t>Research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3639312"/>
            <a:ext cx="309981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6E"/>
                </a:solidFill>
                <a:latin typeface="Aptos"/>
              </a:defRPr>
            </a:pPr>
            <a:r>
              <a:t>Not only:</a:t>
            </a:r>
            <a:br/>
            <a:r>
              <a:t>“Which sequence is best?”</a:t>
            </a:r>
            <a:br/>
            <a:br/>
            <a:r>
              <a:t>But:</a:t>
            </a:r>
            <a:br/>
            <a:r>
              <a:t>“Why does A change B’s effect — and can we predict it from program structure?”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2272D"/>
                </a:solidFill>
                <a:latin typeface="Aptos"/>
              </a:defRPr>
            </a:pPr>
            <a:r>
              <a:t>Program structure  →  pass interaction  →  predictive compiler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5F666E"/>
                </a:solidFill>
                <a:latin typeface="Aptos"/>
              </a:defRPr>
            </a:pPr>
            <a:r>
              <a:t>OptGraph  |  Compiler Design Research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73952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20" b="0">
                <a:solidFill>
                  <a:srgbClr val="5F666E"/>
                </a:solidFill>
                <a:latin typeface="Aptos"/>
              </a:defRPr>
            </a:pPr>
            <a:r>
              <a:t>VIT Vellore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1502</Words>
  <Application>Microsoft Office PowerPoint</Application>
  <PresentationFormat>Widescreen</PresentationFormat>
  <Paragraphs>162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OptGraph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OptGraph: Program-Conditioned Quantification and Prediction of LLVM Optimization Pass Interactions</dc:title>
  <dc:subject>Minimal academic presentation</dc:subject>
  <dc:creator>VIT Vellore</dc:creator>
  <cp:keywords/>
  <dc:description>generated using python-pptx</dc:description>
  <cp:lastModifiedBy>Arav Singh</cp:lastModifiedBy>
  <cp:revision>13</cp:revision>
  <dcterms:created xsi:type="dcterms:W3CDTF">2013-01-27T09:14:16Z</dcterms:created>
  <dcterms:modified xsi:type="dcterms:W3CDTF">2026-10-07T16:48:31Z</dcterms:modified>
  <cp:category/>
</cp:coreProperties>
</file>